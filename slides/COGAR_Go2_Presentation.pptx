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wav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1920240"/>
            <a:ext cx="110642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300" b="1" i="0">
                <a:solidFill>
                  <a:srgbClr val="1A1A1A"/>
                </a:solidFill>
                <a:latin typeface="Calibri"/>
              </a:rPr>
              <a:t>Go2 Reinforcement Learning Locomotion</a:t>
            </a:r>
          </a:p>
          <a:p>
            <a:pPr algn="l">
              <a:spcAft>
                <a:spcPts val="600"/>
              </a:spcAft>
            </a:pPr>
            <a:r>
              <a:rPr sz="3300" b="1" i="0">
                <a:solidFill>
                  <a:srgbClr val="1A1A1A"/>
                </a:solidFill>
                <a:latin typeface="Calibri"/>
              </a:rPr>
              <a:t>and Sim-to-Real Transfer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3310128"/>
            <a:ext cx="2743200" cy="4114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511296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2B3A4A"/>
                </a:solidFill>
                <a:latin typeface="Calibri"/>
              </a:rPr>
              <a:t>Assignment 13 (E4): training in NVIDIA Isaac Lab, deployment on the real Unitree Go2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212080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Richard Albert King Mechoda   |   ID 8525970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6B7682"/>
                </a:solidFill>
                <a:latin typeface="Calibri"/>
              </a:rPr>
              <a:t>Cognitive Architectures for Robotics (COGAR), University of Genoa, DIBRIS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wav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6576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B3A4A"/>
                </a:solidFill>
                <a:latin typeface="Calibri"/>
              </a:rPr>
              <a:t>1 | RESEARCH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1A1A1A"/>
                </a:solidFill>
                <a:latin typeface="Calibri"/>
              </a:rPr>
              <a:t>Make a real quadruped walk, without training on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2103120" cy="3200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91640"/>
            <a:ext cx="110642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300"/>
              </a:spcAft>
            </a:pPr>
            <a:r>
              <a:rPr sz="1650" b="1" i="0">
                <a:solidFill>
                  <a:srgbClr val="2B3A4A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1A1A1A"/>
                </a:solidFill>
                <a:latin typeface="Calibri"/>
              </a:rPr>
              <a:t>Goal: a controller that makes the Unitree Go2 walk, trot and track velocity commands.</a:t>
            </a:r>
          </a:p>
          <a:p>
            <a:pPr algn="l">
              <a:spcAft>
                <a:spcPts val="1300"/>
              </a:spcAft>
            </a:pPr>
            <a:r>
              <a:rPr sz="1650" b="1" i="0">
                <a:solidFill>
                  <a:srgbClr val="2B3A4A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1A1A1A"/>
                </a:solidFill>
                <a:latin typeface="Calibri"/>
              </a:rPr>
              <a:t>Training on real legged hardware is slow, costly and damaging (thousands of falls, motor wear).</a:t>
            </a:r>
          </a:p>
          <a:p>
            <a:pPr algn="l">
              <a:spcAft>
                <a:spcPts val="1300"/>
              </a:spcAft>
            </a:pPr>
            <a:r>
              <a:rPr sz="1650" b="1" i="0">
                <a:solidFill>
                  <a:srgbClr val="2B3A4A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1A1A1A"/>
                </a:solidFill>
                <a:latin typeface="Calibri"/>
              </a:rPr>
              <a:t>Approach: learn the controller entirely in simulation, then deploy it zero-shot on the real robot.</a:t>
            </a:r>
          </a:p>
          <a:p>
            <a:pPr algn="l">
              <a:spcAft>
                <a:spcPts val="1300"/>
              </a:spcAft>
            </a:pPr>
            <a:r>
              <a:rPr sz="1650" b="1" i="0">
                <a:solidFill>
                  <a:srgbClr val="2B3A4A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1A1A1A"/>
                </a:solidFill>
                <a:latin typeface="Calibri"/>
              </a:rPr>
              <a:t>The research problem is the sim-to-real gap: a policy excellent in simulation can fail on hardware.</a:t>
            </a:r>
          </a:p>
          <a:p>
            <a:pPr algn="l">
              <a:spcAft>
                <a:spcPts val="1300"/>
              </a:spcAft>
            </a:pPr>
            <a:r>
              <a:rPr sz="1650" b="1" i="0">
                <a:solidFill>
                  <a:srgbClr val="2B3A4A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1A1A1A"/>
                </a:solidFill>
                <a:latin typeface="Calibri"/>
              </a:rPr>
              <a:t>Some signals the simulator gives for free, such as the body linear velocity, cannot be measured on the robot.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5349240"/>
            <a:ext cx="2606040" cy="548640"/>
          </a:xfrm>
          <a:prstGeom prst="rect">
            <a:avLst/>
          </a:prstGeom>
          <a:solidFill>
            <a:srgbClr val="2B3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5413248"/>
            <a:ext cx="260604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Train in Isaac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5413248"/>
            <a:ext cx="292608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6B7682"/>
                </a:solidFill>
                <a:latin typeface="Calibri"/>
              </a:rPr>
              <a:t>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19856" y="5349240"/>
            <a:ext cx="2606040" cy="548640"/>
          </a:xfrm>
          <a:prstGeom prst="rect">
            <a:avLst/>
          </a:prstGeom>
          <a:solidFill>
            <a:srgbClr val="2B3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9856" y="5413248"/>
            <a:ext cx="260604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Validate in Isaac Sim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07608" y="5413248"/>
            <a:ext cx="292608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6B7682"/>
                </a:solidFill>
                <a:latin typeface="Calibri"/>
              </a:rPr>
              <a:t>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72784" y="5349240"/>
            <a:ext cx="2606040" cy="548640"/>
          </a:xfrm>
          <a:prstGeom prst="rect">
            <a:avLst/>
          </a:prstGeom>
          <a:solidFill>
            <a:srgbClr val="2B3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4" y="5413248"/>
            <a:ext cx="260604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Export to ONNX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0536" y="5413248"/>
            <a:ext cx="292608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6B7682"/>
                </a:solidFill>
                <a:latin typeface="Calibri"/>
              </a:rPr>
              <a:t>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25711" y="5349240"/>
            <a:ext cx="2606040" cy="548640"/>
          </a:xfrm>
          <a:prstGeom prst="rect">
            <a:avLst/>
          </a:prstGeom>
          <a:solidFill>
            <a:srgbClr val="2B3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25711" y="5413248"/>
            <a:ext cx="260604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Deploy on real Go2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37376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682"/>
                </a:solidFill>
                <a:latin typeface="Calibri"/>
              </a:rPr>
              <a:t>Go2 RL Locomotion and Sim-to-Real  |  Richard (8525970)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373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6B7682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wav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6576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B3A4A"/>
                </a:solidFill>
                <a:latin typeface="Calibri"/>
              </a:rPr>
              <a:t>1 | RESEARCH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1A1A1A"/>
                </a:solidFill>
                <a:latin typeface="Calibri"/>
              </a:rPr>
              <a:t>Project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2103120" cy="3200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4592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2B3A4A"/>
                </a:solidFill>
                <a:latin typeface="Calibri"/>
              </a:rPr>
              <a:t>A walking controller trained entirely in simulation and transferred to the real robot with no real-world fine-tuning.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514600"/>
            <a:ext cx="2103120" cy="169164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697480"/>
            <a:ext cx="2103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 i="0">
                <a:solidFill>
                  <a:srgbClr val="FFFFFF"/>
                </a:solidFill>
                <a:latin typeface="Calibri"/>
              </a:rPr>
              <a:t>2 billion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3429000"/>
            <a:ext cx="1883663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training timesteps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40" y="2514600"/>
            <a:ext cx="2103120" cy="169164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0" y="2697480"/>
            <a:ext cx="2103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 i="0">
                <a:solidFill>
                  <a:srgbClr val="FFFFFF"/>
                </a:solidFill>
                <a:latin typeface="Calibri"/>
              </a:rPr>
              <a:t>16,384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4368" y="3429000"/>
            <a:ext cx="1883663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robots in parallel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02352" y="2514600"/>
            <a:ext cx="2103120" cy="169164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02352" y="2697480"/>
            <a:ext cx="2103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 i="0">
                <a:solidFill>
                  <a:srgbClr val="FFFFFF"/>
                </a:solidFill>
                <a:latin typeface="Calibri"/>
              </a:rPr>
              <a:t>1 h 40 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3429000"/>
            <a:ext cx="1883663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training, one RTX PRO 6000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70063" y="2514600"/>
            <a:ext cx="2103120" cy="169164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70063" y="2697480"/>
            <a:ext cx="2103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 i="0">
                <a:solidFill>
                  <a:srgbClr val="FFFFFF"/>
                </a:solidFill>
                <a:latin typeface="Calibri"/>
              </a:rPr>
              <a:t>99.7 %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79791" y="3429000"/>
            <a:ext cx="1883663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survival in simulation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37776" y="2514600"/>
            <a:ext cx="2103120" cy="169164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37776" y="2697480"/>
            <a:ext cx="2103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 i="0">
                <a:solidFill>
                  <a:srgbClr val="FFFFFF"/>
                </a:solidFill>
                <a:latin typeface="Calibri"/>
              </a:rPr>
              <a:t>0.22 m/s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47503" y="3429000"/>
            <a:ext cx="1883663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velocity tracking error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461772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Flat terrain: deployed zero-shot on the real Go2 (works straight and smooth).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Rough terrain (stairs, uneven ground, all directions): trained and validated in simulation; hardware deployment pending.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37376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682"/>
                </a:solidFill>
                <a:latin typeface="Calibri"/>
              </a:rPr>
              <a:t>Go2 RL Locomotion and Sim-to-Real  |  Richard (8525970)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373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6B7682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wav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6576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B3A4A"/>
                </a:solidFill>
                <a:latin typeface="Calibri"/>
              </a:rPr>
              <a:t>2 | STATE OF THE 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1A1A1A"/>
                </a:solidFill>
                <a:latin typeface="Calibri"/>
              </a:rPr>
              <a:t>Four ways the field closes the sim-to-real gap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2103120" cy="3200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691640"/>
            <a:ext cx="544068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C2C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37944"/>
            <a:ext cx="498348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 i="0">
                <a:solidFill>
                  <a:srgbClr val="2B3A4A"/>
                </a:solidFill>
                <a:latin typeface="Calibri"/>
              </a:rPr>
              <a:t>Simulator fidelity / system ID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Match the simulator to the robot: measured latency, learned actuator networks.</a:t>
            </a:r>
          </a:p>
          <a:p>
            <a:pPr algn="l">
              <a:spcAft>
                <a:spcPts val="600"/>
              </a:spcAft>
            </a:pPr>
            <a:r>
              <a:rPr sz="1150" b="0" i="1">
                <a:solidFill>
                  <a:srgbClr val="6B7682"/>
                </a:solidFill>
                <a:latin typeface="Calibri"/>
              </a:rPr>
              <a:t>Tan 2018, Hwangbo 2019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6208" y="1691640"/>
            <a:ext cx="544068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C2C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37944"/>
            <a:ext cx="498348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 i="0">
                <a:solidFill>
                  <a:srgbClr val="2B3A4A"/>
                </a:solidFill>
                <a:latin typeface="Calibri"/>
              </a:rPr>
              <a:t>Domain randomization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Train over a distribution of physics so reality is one more sample.</a:t>
            </a:r>
          </a:p>
          <a:p>
            <a:pPr algn="l">
              <a:spcAft>
                <a:spcPts val="600"/>
              </a:spcAft>
            </a:pPr>
            <a:r>
              <a:rPr sz="1150" b="0" i="1">
                <a:solidFill>
                  <a:srgbClr val="6B7682"/>
                </a:solidFill>
                <a:latin typeface="Calibri"/>
              </a:rPr>
              <a:t>Tobin 2017, Peng 2018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840480"/>
            <a:ext cx="544068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C2C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986784"/>
            <a:ext cx="498348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 i="0">
                <a:solidFill>
                  <a:srgbClr val="2B3A4A"/>
                </a:solidFill>
                <a:latin typeface="Calibri"/>
              </a:rPr>
              <a:t>Privileged learning / adaptation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Privileged critic or teacher; estimate what cannot be sensed.</a:t>
            </a:r>
          </a:p>
          <a:p>
            <a:pPr algn="l">
              <a:spcAft>
                <a:spcPts val="600"/>
              </a:spcAft>
            </a:pPr>
            <a:r>
              <a:rPr sz="1150" b="0" i="1">
                <a:solidFill>
                  <a:srgbClr val="6B7682"/>
                </a:solidFill>
                <a:latin typeface="Calibri"/>
              </a:rPr>
              <a:t>Pinto 2018, Lee 2020, Miki 2022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6208" y="3840480"/>
            <a:ext cx="544068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C2C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3986784"/>
            <a:ext cx="498348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 i="0">
                <a:solidFill>
                  <a:srgbClr val="2B3A4A"/>
                </a:solidFill>
                <a:latin typeface="Calibri"/>
              </a:rPr>
              <a:t>Massive parallel simulation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Cheap GPU experience makes wide randomization affordable.</a:t>
            </a:r>
          </a:p>
          <a:p>
            <a:pPr algn="l">
              <a:spcAft>
                <a:spcPts val="600"/>
              </a:spcAft>
            </a:pPr>
            <a:r>
              <a:rPr sz="1150" b="0" i="1">
                <a:solidFill>
                  <a:srgbClr val="6B7682"/>
                </a:solidFill>
                <a:latin typeface="Calibri"/>
              </a:rPr>
              <a:t>Rudin 2022, Isaac Lab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03504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1">
                <a:solidFill>
                  <a:srgbClr val="6B7682"/>
                </a:solidFill>
                <a:latin typeface="Calibri"/>
              </a:rPr>
              <a:t>This project combines all four; its own choices are an asymmetric actor-critic and aggressive actuator-realism randomization.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37376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682"/>
                </a:solidFill>
                <a:latin typeface="Calibri"/>
              </a:rPr>
              <a:t>Go2 RL Locomotion and Sim-to-Real  |  Richard (8525970)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373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6B7682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wav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6576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B3A4A"/>
                </a:solidFill>
                <a:latin typeface="Calibri"/>
              </a:rPr>
              <a:t>3 | RESEARCH FORMULATION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1A1A1A"/>
                </a:solidFill>
                <a:latin typeface="Calibri"/>
              </a:rPr>
              <a:t>Objectives and hypotheses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2103120" cy="3200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2B3A4A"/>
                </a:solidFill>
                <a:latin typeface="Calibri"/>
              </a:rPr>
              <a:t>Objectives (assignment brief)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011680"/>
            <a:ext cx="55778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2B3A4A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Set up the Go2 in Isaac Lab; configure PPO / RSL-RL.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2B3A4A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Train walking, trotting and velocity tracking.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2B3A4A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Apply domain randomization (friction, mass, delay, noise).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2B3A4A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Validate in Isaac Sim under perturbations.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2B3A4A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Compare two policy configurations.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2B3A4A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Export to ONNX; deploy via the SDK and ROS 2 Humble.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2B3A4A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Analyse the sim-to-real gap and limitations.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6002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2B3A4A"/>
                </a:solidFill>
                <a:latin typeface="Calibri"/>
              </a:rPr>
              <a:t>Hypotheses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011680"/>
            <a:ext cx="54864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100"/>
              </a:spcAft>
            </a:pPr>
            <a:r>
              <a:rPr sz="1400" b="1" i="0">
                <a:solidFill>
                  <a:srgbClr val="2B3A4A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H1: in simulation the gap is invisible; all good policies look excellent.</a:t>
            </a:r>
          </a:p>
          <a:p>
            <a:pPr algn="l">
              <a:spcAft>
                <a:spcPts val="1100"/>
              </a:spcAft>
            </a:pPr>
            <a:r>
              <a:rPr sz="1400" b="1" i="0">
                <a:solidFill>
                  <a:srgbClr val="2B3A4A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H2: on hardware, a policy that needs an unmeasurable input drifts; an asymmetric design walks straight.</a:t>
            </a:r>
          </a:p>
          <a:p>
            <a:pPr algn="l">
              <a:spcAft>
                <a:spcPts val="1100"/>
              </a:spcAft>
            </a:pPr>
            <a:r>
              <a:rPr sz="1400" b="1" i="0">
                <a:solidFill>
                  <a:srgbClr val="2B3A4A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H3: heavier action smoothness and latency randomization remove motor chatter.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4937760"/>
            <a:ext cx="54864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2C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5056632"/>
            <a:ext cx="52120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B3A4A"/>
                </a:solidFill>
                <a:latin typeface="Calibri"/>
              </a:rPr>
              <a:t>Two configurations compared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B3A4A"/>
                </a:solidFill>
                <a:latin typeface="Calibri"/>
              </a:rPr>
              <a:t>V2 symmetric (48-dim, base velocity in the actor)  vs  V3 asymmetric (45-dim, base velocity to the critic only).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37376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682"/>
                </a:solidFill>
                <a:latin typeface="Calibri"/>
              </a:rPr>
              <a:t>Go2 RL Locomotion and Sim-to-Real  |  Richard (8525970)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373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6B7682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wav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6576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B3A4A"/>
                </a:solidFill>
                <a:latin typeface="Calibri"/>
              </a:rPr>
              <a:t>3 |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1A1A1A"/>
                </a:solidFill>
                <a:latin typeface="Calibri"/>
              </a:rPr>
              <a:t>Training in Isaac Lab: flat terrain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2103120" cy="3200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im_flat_terrai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691640"/>
            <a:ext cx="585216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5742432"/>
            <a:ext cx="5852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B7682"/>
                </a:solidFill>
                <a:latin typeface="Calibri"/>
              </a:rPr>
              <a:t>16,384 Go2 robots in parallel; arrows show each robot's commanded velocity.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1783080"/>
            <a:ext cx="50292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300"/>
              </a:spcAft>
            </a:pPr>
            <a:r>
              <a:rPr sz="1500" b="1" i="0">
                <a:solidFill>
                  <a:srgbClr val="2B3A4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16,384 robots step in parallel on one GPU.</a:t>
            </a:r>
          </a:p>
          <a:p>
            <a:pPr algn="l">
              <a:spcAft>
                <a:spcPts val="1300"/>
              </a:spcAft>
            </a:pPr>
            <a:r>
              <a:rPr sz="1500" b="1" i="0">
                <a:solidFill>
                  <a:srgbClr val="2B3A4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Reward: track command, stay upright, lift feet, save energy.</a:t>
            </a:r>
          </a:p>
          <a:p>
            <a:pPr algn="l">
              <a:spcAft>
                <a:spcPts val="1300"/>
              </a:spcAft>
            </a:pPr>
            <a:r>
              <a:rPr sz="1500" b="1" i="0">
                <a:solidFill>
                  <a:srgbClr val="2B3A4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PPO with RSL-RL and a custom reward recipe.</a:t>
            </a:r>
          </a:p>
          <a:p>
            <a:pPr algn="l">
              <a:spcAft>
                <a:spcPts val="1300"/>
              </a:spcAft>
            </a:pPr>
            <a:r>
              <a:rPr sz="1500" b="1" i="0">
                <a:solidFill>
                  <a:srgbClr val="2B3A4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A trot gait emerges; it is never hand-specified.</a:t>
            </a:r>
          </a:p>
          <a:p>
            <a:pPr algn="l">
              <a:spcAft>
                <a:spcPts val="1300"/>
              </a:spcAft>
            </a:pPr>
            <a:r>
              <a:rPr sz="1500" b="1" i="0">
                <a:solidFill>
                  <a:srgbClr val="2B3A4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2 billion steps in 1 h 40 m on an RTX PRO 6000.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37376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682"/>
                </a:solidFill>
                <a:latin typeface="Calibri"/>
              </a:rPr>
              <a:t>Go2 RL Locomotion and Sim-to-Real  |  Richard (8525970)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373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6B7682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wav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6576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B3A4A"/>
                </a:solidFill>
                <a:latin typeface="Calibri"/>
              </a:rPr>
              <a:t>3 |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1A1A1A"/>
                </a:solidFill>
                <a:latin typeface="Calibri"/>
              </a:rPr>
              <a:t>Training in Isaac Lab: rough terrain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2103120" cy="3200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im_rough_terrai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691640"/>
            <a:ext cx="6766560" cy="38659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5623560"/>
            <a:ext cx="6766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B7682"/>
                </a:solidFill>
                <a:latin typeface="Calibri"/>
              </a:rPr>
              <a:t>Stairs, slopes and uneven blocks; the policy adds a height-scan observation.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1783080"/>
            <a:ext cx="42062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300"/>
              </a:spcAft>
            </a:pPr>
            <a:r>
              <a:rPr sz="1450" b="1" i="0">
                <a:solidFill>
                  <a:srgbClr val="2B3A4A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1A1A1A"/>
                </a:solidFill>
                <a:latin typeface="Calibri"/>
              </a:rPr>
              <a:t>Same pipeline, harder terrain: stairs and uneven ground in all directions.</a:t>
            </a:r>
          </a:p>
          <a:p>
            <a:pPr algn="l">
              <a:spcAft>
                <a:spcPts val="1300"/>
              </a:spcAft>
            </a:pPr>
            <a:r>
              <a:rPr sz="1450" b="1" i="0">
                <a:solidFill>
                  <a:srgbClr val="2B3A4A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1A1A1A"/>
                </a:solidFill>
                <a:latin typeface="Calibri"/>
              </a:rPr>
              <a:t>A 187-dim height scan is added to the observation.</a:t>
            </a:r>
          </a:p>
          <a:p>
            <a:pPr algn="l">
              <a:spcAft>
                <a:spcPts val="1300"/>
              </a:spcAft>
            </a:pPr>
            <a:r>
              <a:rPr sz="1450" b="1" i="0">
                <a:solidFill>
                  <a:srgbClr val="2B3A4A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1A1A1A"/>
                </a:solidFill>
                <a:latin typeface="Calibri"/>
              </a:rPr>
              <a:t>Trained and validated in Isaac Sim, including stair climbing.</a:t>
            </a:r>
          </a:p>
          <a:p>
            <a:pPr algn="l">
              <a:spcAft>
                <a:spcPts val="1300"/>
              </a:spcAft>
            </a:pPr>
            <a:r>
              <a:rPr sz="1450" b="1" i="0">
                <a:solidFill>
                  <a:srgbClr val="2B3A4A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1A1A1A"/>
                </a:solidFill>
                <a:latin typeface="Calibri"/>
              </a:rPr>
              <a:t>Hardware deployment pending: the Go2 used has no depth sensor feeding the height scan.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37376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682"/>
                </a:solidFill>
                <a:latin typeface="Calibri"/>
              </a:rPr>
              <a:t>Go2 RL Locomotion and Sim-to-Real  |  Richard (8525970)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373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6B7682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wav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6576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B3A4A"/>
                </a:solidFill>
                <a:latin typeface="Calibri"/>
              </a:rPr>
              <a:t>3 |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1A1A1A"/>
                </a:solidFill>
                <a:latin typeface="Calibri"/>
              </a:rPr>
              <a:t>Inside the policy: observation, action, reward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2103120" cy="3200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459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2B3A4A"/>
                </a:solidFill>
                <a:latin typeface="Calibri"/>
              </a:rPr>
              <a:t>Observation (45-dim)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057400"/>
            <a:ext cx="3749039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50" b="1" i="0">
                <a:solidFill>
                  <a:srgbClr val="2B3A4A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1A1A1A"/>
                </a:solidFill>
                <a:latin typeface="Calibri"/>
              </a:rPr>
              <a:t>Angular velocity (IMU)</a:t>
            </a:r>
          </a:p>
          <a:p>
            <a:pPr algn="l">
              <a:spcAft>
                <a:spcPts val="700"/>
              </a:spcAft>
            </a:pPr>
            <a:r>
              <a:rPr sz="1350" b="1" i="0">
                <a:solidFill>
                  <a:srgbClr val="2B3A4A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1A1A1A"/>
                </a:solidFill>
                <a:latin typeface="Calibri"/>
              </a:rPr>
              <a:t>Projected gravity</a:t>
            </a:r>
          </a:p>
          <a:p>
            <a:pPr algn="l">
              <a:spcAft>
                <a:spcPts val="700"/>
              </a:spcAft>
            </a:pPr>
            <a:r>
              <a:rPr sz="1350" b="1" i="0">
                <a:solidFill>
                  <a:srgbClr val="2B3A4A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1A1A1A"/>
                </a:solidFill>
                <a:latin typeface="Calibri"/>
              </a:rPr>
              <a:t>Velocity command</a:t>
            </a:r>
          </a:p>
          <a:p>
            <a:pPr algn="l">
              <a:spcAft>
                <a:spcPts val="700"/>
              </a:spcAft>
            </a:pPr>
            <a:r>
              <a:rPr sz="1350" b="1" i="0">
                <a:solidFill>
                  <a:srgbClr val="2B3A4A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1A1A1A"/>
                </a:solidFill>
                <a:latin typeface="Calibri"/>
              </a:rPr>
              <a:t>Joint positions and velocities</a:t>
            </a:r>
          </a:p>
          <a:p>
            <a:pPr algn="l">
              <a:spcAft>
                <a:spcPts val="700"/>
              </a:spcAft>
            </a:pPr>
            <a:r>
              <a:rPr sz="1350" b="1" i="0">
                <a:solidFill>
                  <a:srgbClr val="2B3A4A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1A1A1A"/>
                </a:solidFill>
                <a:latin typeface="Calibri"/>
              </a:rPr>
              <a:t>Last action (memory)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6459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2B3A4A"/>
                </a:solidFill>
                <a:latin typeface="Calibri"/>
              </a:rPr>
              <a:t>Action (12)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2057400"/>
            <a:ext cx="3657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50" b="1" i="0">
                <a:solidFill>
                  <a:srgbClr val="2B3A4A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1A1A1A"/>
                </a:solidFill>
                <a:latin typeface="Calibri"/>
              </a:rPr>
              <a:t>Joint offsets from a nominal stance</a:t>
            </a:r>
          </a:p>
          <a:p>
            <a:pPr algn="l">
              <a:spcAft>
                <a:spcPts val="700"/>
              </a:spcAft>
            </a:pPr>
            <a:r>
              <a:rPr sz="1350" b="1" i="0">
                <a:solidFill>
                  <a:srgbClr val="2B3A4A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1A1A1A"/>
                </a:solidFill>
                <a:latin typeface="Calibri"/>
              </a:rPr>
              <a:t>q = q_default + 0.25 a</a:t>
            </a:r>
          </a:p>
          <a:p>
            <a:pPr algn="l">
              <a:spcAft>
                <a:spcPts val="700"/>
              </a:spcAft>
            </a:pPr>
            <a:r>
              <a:rPr sz="1350" b="1" i="0">
                <a:solidFill>
                  <a:srgbClr val="2B3A4A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1A1A1A"/>
                </a:solidFill>
                <a:latin typeface="Calibri"/>
              </a:rPr>
              <a:t>500 Hz PD loop (Kp 40, Kd 1)</a:t>
            </a:r>
          </a:p>
          <a:p>
            <a:pPr algn="l">
              <a:spcAft>
                <a:spcPts val="700"/>
              </a:spcAft>
            </a:pPr>
            <a:r>
              <a:rPr sz="1350" b="1" i="0">
                <a:solidFill>
                  <a:srgbClr val="2B3A4A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1A1A1A"/>
                </a:solidFill>
                <a:latin typeface="Calibri"/>
              </a:rPr>
              <a:t>Policy at 50 Hz, about 1 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16459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2B3A4A"/>
                </a:solidFill>
                <a:latin typeface="Calibri"/>
              </a:rPr>
              <a:t>PPO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057400"/>
            <a:ext cx="35661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50" b="1" i="0">
                <a:solidFill>
                  <a:srgbClr val="2B3A4A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1A1A1A"/>
                </a:solidFill>
                <a:latin typeface="Calibri"/>
              </a:rPr>
              <a:t>Actor-critic MLP 256-256-128</a:t>
            </a:r>
          </a:p>
          <a:p>
            <a:pPr algn="l">
              <a:spcAft>
                <a:spcPts val="700"/>
              </a:spcAft>
            </a:pPr>
            <a:r>
              <a:rPr sz="1350" b="1" i="0">
                <a:solidFill>
                  <a:srgbClr val="2B3A4A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1A1A1A"/>
                </a:solidFill>
                <a:latin typeface="Calibri"/>
              </a:rPr>
              <a:t>Clipped objective, GAE</a:t>
            </a:r>
          </a:p>
          <a:p>
            <a:pPr algn="l">
              <a:spcAft>
                <a:spcPts val="700"/>
              </a:spcAft>
            </a:pPr>
            <a:r>
              <a:rPr sz="1350" b="1" i="0">
                <a:solidFill>
                  <a:srgbClr val="2B3A4A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1A1A1A"/>
                </a:solidFill>
                <a:latin typeface="Calibri"/>
              </a:rPr>
              <a:t>KL-adaptive learning rate</a:t>
            </a:r>
          </a:p>
          <a:p>
            <a:pPr algn="l">
              <a:spcAft>
                <a:spcPts val="700"/>
              </a:spcAft>
            </a:pPr>
            <a:r>
              <a:rPr sz="1350" b="1" i="0">
                <a:solidFill>
                  <a:srgbClr val="2B3A4A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1A1A1A"/>
                </a:solidFill>
                <a:latin typeface="Calibri"/>
              </a:rPr>
              <a:t>gamma 0.99, lambda 0.95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4343400"/>
            <a:ext cx="112014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2C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46227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B3A4A"/>
                </a:solidFill>
                <a:latin typeface="Calibri"/>
              </a:rPr>
              <a:t>Reward = weighted sum of 12 terms; the gait emerges from these objectives: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46320"/>
            <a:ext cx="107899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1E5E2E"/>
                </a:solidFill>
                <a:latin typeface="Calibri"/>
              </a:rPr>
              <a:t>Positive:  velocity tracking (1.5),  angular tracking (0.75),  foot air-time (0.5)</a:t>
            </a:r>
          </a:p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2B3A4A"/>
                </a:solidFill>
                <a:latin typeface="Calibri"/>
              </a:rPr>
              <a:t>Negative:  flat orientation (2.5),  vertical velocity (2.0),  action rate (0.25),  undesired contacts (1.0),</a:t>
            </a:r>
          </a:p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2B3A4A"/>
                </a:solidFill>
                <a:latin typeface="Calibri"/>
              </a:rPr>
              <a:t>                  feet slide (0.25),  joint deviation (0.1),  torques and accelerations (small)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37376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682"/>
                </a:solidFill>
                <a:latin typeface="Calibri"/>
              </a:rPr>
              <a:t>Go2 RL Locomotion and Sim-to-Real  |  Richard (8525970)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373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6B7682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wav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6576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B3A4A"/>
                </a:solidFill>
                <a:latin typeface="Calibri"/>
              </a:rPr>
              <a:t>3 |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1A1A1A"/>
                </a:solidFill>
                <a:latin typeface="Calibri"/>
              </a:rPr>
              <a:t>Domain randomization: the sim-to-real bridge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2103120" cy="3200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4592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2B3A4A"/>
                </a:solidFill>
                <a:latin typeface="Calibri"/>
              </a:rPr>
              <a:t>Every episode the simulator changes the physics, so the real robot is just one more variant.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286000"/>
            <a:ext cx="544068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C2C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377440"/>
            <a:ext cx="2743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2B3A4A"/>
                </a:solidFill>
                <a:latin typeface="Calibri"/>
              </a:rPr>
              <a:t>Body mass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55848" y="2377440"/>
            <a:ext cx="2468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-2 to +4 kg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6208" y="2286000"/>
            <a:ext cx="544068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C2C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2377440"/>
            <a:ext cx="2743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2B3A4A"/>
                </a:solidFill>
                <a:latin typeface="Calibri"/>
              </a:rPr>
              <a:t>Centre of mass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25128" y="2377440"/>
            <a:ext cx="2468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+/- 5 cm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200400"/>
            <a:ext cx="544068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C2C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291840"/>
            <a:ext cx="2743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2B3A4A"/>
                </a:solidFill>
                <a:latin typeface="Calibri"/>
              </a:rPr>
              <a:t>Friction (static / dynamic)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5848" y="3291840"/>
            <a:ext cx="2468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0.4-1.4 / 0.3-1.0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6208" y="3200400"/>
            <a:ext cx="544068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C2C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3291840"/>
            <a:ext cx="2743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2B3A4A"/>
                </a:solidFill>
                <a:latin typeface="Calibri"/>
              </a:rPr>
              <a:t>Actuator gains Kp / Kd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25128" y="3291840"/>
            <a:ext cx="2468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+/- 20 %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4114800"/>
            <a:ext cx="544068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C2C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4206240"/>
            <a:ext cx="2743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2B3A4A"/>
                </a:solidFill>
                <a:latin typeface="Calibri"/>
              </a:rPr>
              <a:t>Actuator latency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55848" y="4206240"/>
            <a:ext cx="2468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0-20 ms (DelayedPDActuator)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6208" y="4114800"/>
            <a:ext cx="544068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C2C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4206240"/>
            <a:ext cx="2743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2B3A4A"/>
                </a:solidFill>
                <a:latin typeface="Calibri"/>
              </a:rPr>
              <a:t>Joint friction / armature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25128" y="4206240"/>
            <a:ext cx="2468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randomised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5029200"/>
            <a:ext cx="544068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C2C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5120640"/>
            <a:ext cx="2743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2B3A4A"/>
                </a:solidFill>
                <a:latin typeface="Calibri"/>
              </a:rPr>
              <a:t>External force / push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55848" y="5120640"/>
            <a:ext cx="2468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+/- 3 N, +/- 0.5 m/s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36208" y="5029200"/>
            <a:ext cx="544068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C2C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19088" y="5120640"/>
            <a:ext cx="2743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2B3A4A"/>
                </a:solidFill>
                <a:latin typeface="Calibri"/>
              </a:rPr>
              <a:t>Stand-still training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25128" y="5120640"/>
            <a:ext cx="2468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20 % of robots, zero command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37376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682"/>
                </a:solidFill>
                <a:latin typeface="Calibri"/>
              </a:rPr>
              <a:t>Go2 RL Locomotion and Sim-to-Real  |  Richard (8525970)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373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6B7682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wav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6576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B3A4A"/>
                </a:solidFill>
                <a:latin typeface="Calibri"/>
              </a:rPr>
              <a:t>4 | COGNITIVE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1A1A1A"/>
                </a:solidFill>
                <a:latin typeface="Calibri"/>
              </a:rPr>
              <a:t>Where the project sits: the Sense-Plan-Act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2103120" cy="3200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2B3A4A"/>
                </a:solidFill>
                <a:latin typeface="Calibri"/>
              </a:rPr>
              <a:t>The COGAR course frames every architecture on one loop. Our controller is the reactive family: Sense to Act, with the Reasoning/Plan stage removed.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2423160"/>
            <a:ext cx="2468880" cy="914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542032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SENSE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44368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IMU, encoders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2423160"/>
            <a:ext cx="2468880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6B7682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2542032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6B7682"/>
                </a:solidFill>
                <a:latin typeface="Calibri"/>
              </a:rPr>
              <a:t>Reasoning / 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944368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6B7682"/>
                </a:solidFill>
                <a:latin typeface="Calibri"/>
              </a:rPr>
              <a:t>removed (future: planner)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0" y="2423160"/>
            <a:ext cx="2468880" cy="914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2542032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944368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RL policy to PD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69748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6B7682"/>
                </a:solidFill>
                <a:latin typeface="Calibri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269748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6B7682"/>
                </a:solidFill>
                <a:latin typeface="Calibri"/>
              </a:rPr>
              <a:t>&gt;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3611880"/>
            <a:ext cx="10149840" cy="36576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675887"/>
            <a:ext cx="10149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1">
                <a:solidFill>
                  <a:srgbClr val="2B3A4A"/>
                </a:solidFill>
                <a:latin typeface="Calibri"/>
              </a:rPr>
              <a:t>reactive loop, 50 Hz (Sense to Act directly)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4297680"/>
            <a:ext cx="110642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450" b="1" i="0">
                <a:solidFill>
                  <a:srgbClr val="2B3A4A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1A1A1A"/>
                </a:solidFill>
                <a:latin typeface="Calibri"/>
              </a:rPr>
              <a:t>The policy is a behaviour in the course sense: a mapping of sensory inputs to motor actions (perceptual schema + motor schema).</a:t>
            </a:r>
          </a:p>
          <a:p>
            <a:pPr algn="l">
              <a:spcAft>
                <a:spcPts val="900"/>
              </a:spcAft>
            </a:pPr>
            <a:r>
              <a:rPr sz="1450" b="1" i="0">
                <a:solidFill>
                  <a:srgbClr val="2B3A4A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1A1A1A"/>
                </a:solidFill>
                <a:latin typeface="Calibri"/>
              </a:rPr>
              <a:t>It is a Type-1, reactive behaviour, compiled down from a slow optimisation: exactly what reinforcement learning does.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37376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682"/>
                </a:solidFill>
                <a:latin typeface="Calibri"/>
              </a:rPr>
              <a:t>Go2 RL Locomotion and Sim-to-Real  |  Richard (8525970)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373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6B7682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wav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6576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B3A4A"/>
                </a:solidFill>
                <a:latin typeface="Calibri"/>
              </a:rPr>
              <a:t>4 | COGNITIVE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1A1A1A"/>
                </a:solidFill>
                <a:latin typeface="Calibri"/>
              </a:rPr>
              <a:t>Behaviour coordination and design patterns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2103120" cy="3200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27632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B3A4A"/>
                </a:solidFill>
                <a:latin typeface="Calibri"/>
              </a:rPr>
              <a:t>Subsumption and fixed-priority coordination (Part 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965960"/>
            <a:ext cx="110642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2B3A4A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The deployment state machine (IDLE &gt; STAND_UP &gt; READY &gt; WALK &gt; DAMPING) is a fixed-priority, winner-take-all behaviour coordinator.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2B3A4A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Safety reflexes (tilt &gt; 46 deg, sensor watchdog, NaN guard, clipping) suppress the walking behaviour, in Brooks' exact sense.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2B3A4A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These are reflexes in the ethological sense the course gives: rapid, automatic, involuntary responses.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977639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B3A4A"/>
                </a:solidFill>
                <a:latin typeface="Calibri"/>
              </a:rPr>
              <a:t>Course design patterns realised (Part 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3891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B3A4A"/>
                </a:solidFill>
                <a:latin typeface="Calibri"/>
              </a:rPr>
              <a:t>Adapter:  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the joint-order remap between Isaac Lab and the Unitree SDK conventions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4937759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B3A4A"/>
                </a:solidFill>
                <a:latin typeface="Calibri"/>
              </a:rPr>
              <a:t>Computational:  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the policy step: one periodic on_update() collecting inputs, one inference, all outputs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54864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B3A4A"/>
                </a:solidFill>
                <a:latin typeface="Calibri"/>
              </a:rPr>
              <a:t>Publish-subscribe + Sensor-device:  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the IMU and encoder readers push state to the controller over DDS / ROS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03504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6B7682"/>
                </a:solidFill>
                <a:latin typeface="Calibri"/>
              </a:rPr>
              <a:t>Marr's three levels: what (a quadruped should walk) -&gt; processes (schemas + FSM) -&gt; implementation (ONNX on Jetson, PD on the driver).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37376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682"/>
                </a:solidFill>
                <a:latin typeface="Calibri"/>
              </a:rPr>
              <a:t>Go2 RL Locomotion and Sim-to-Real  |  Richard (8525970)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373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6B7682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wav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6576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B3A4A"/>
                </a:solidFill>
                <a:latin typeface="Calibri"/>
              </a:rPr>
              <a:t>5 | RESULTS AND CONGRUENCE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1A1A1A"/>
                </a:solidFill>
                <a:latin typeface="Calibri"/>
              </a:rPr>
              <a:t>Two-configuration comparison and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2103120" cy="3200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6492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2B3A4A"/>
                </a:solidFill>
                <a:latin typeface="Calibri"/>
              </a:rPr>
              <a:t>V2 (symmetric)  vs  V3 (asymmetric)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011680"/>
            <a:ext cx="649224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C2C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057400"/>
            <a:ext cx="20116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2B3A4A"/>
                </a:solidFill>
                <a:latin typeface="Calibri"/>
              </a:rPr>
              <a:t>Actor observation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057400"/>
            <a:ext cx="21488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B3A4A"/>
                </a:solidFill>
                <a:latin typeface="Calibri"/>
              </a:rPr>
              <a:t>48-dim (+ base vel)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057400"/>
            <a:ext cx="21488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B3A4A"/>
                </a:solidFill>
                <a:latin typeface="Calibri"/>
              </a:rPr>
              <a:t>45-dim (no base vel)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651760"/>
            <a:ext cx="649224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C2C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697480"/>
            <a:ext cx="20116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2B3A4A"/>
                </a:solidFill>
                <a:latin typeface="Calibri"/>
              </a:rPr>
              <a:t>Privileged info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697480"/>
            <a:ext cx="21488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B3A4A"/>
                </a:solidFill>
                <a:latin typeface="Calibri"/>
              </a:rPr>
              <a:t>none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697480"/>
            <a:ext cx="21488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B3A4A"/>
                </a:solidFill>
                <a:latin typeface="Calibri"/>
              </a:rPr>
              <a:t>base vel to critic only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291840"/>
            <a:ext cx="649224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C2C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337560"/>
            <a:ext cx="20116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2B3A4A"/>
                </a:solidFill>
                <a:latin typeface="Calibri"/>
              </a:rPr>
              <a:t>Actuator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3337560"/>
            <a:ext cx="21488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B3A4A"/>
                </a:solidFill>
                <a:latin typeface="Calibri"/>
              </a:rPr>
              <a:t>ideal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3337560"/>
            <a:ext cx="21488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B3A4A"/>
                </a:solidFill>
                <a:latin typeface="Calibri"/>
              </a:rPr>
              <a:t>delayed 0-20 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3931920"/>
            <a:ext cx="649224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C2C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977639"/>
            <a:ext cx="20116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2B3A4A"/>
                </a:solidFill>
                <a:latin typeface="Calibri"/>
              </a:rPr>
              <a:t>Gain randomization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3977639"/>
            <a:ext cx="21488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B3A4A"/>
                </a:solidFill>
                <a:latin typeface="Calibri"/>
              </a:rPr>
              <a:t>none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3977639"/>
            <a:ext cx="21488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B3A4A"/>
                </a:solidFill>
                <a:latin typeface="Calibri"/>
              </a:rPr>
              <a:t>+/- 20 %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4572000"/>
            <a:ext cx="649224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C2C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4617720"/>
            <a:ext cx="20116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2B3A4A"/>
                </a:solidFill>
                <a:latin typeface="Calibri"/>
              </a:rPr>
              <a:t>Real-robot 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1760" y="4617720"/>
            <a:ext cx="21488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8C2E26"/>
                </a:solidFill>
                <a:latin typeface="Calibri"/>
              </a:rPr>
              <a:t>drifts sideways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4617720"/>
            <a:ext cx="21488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1E5E2E"/>
                </a:solidFill>
                <a:latin typeface="Calibri"/>
              </a:rPr>
              <a:t>walks straight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160020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2B3A4A"/>
                </a:solidFill>
                <a:latin typeface="Calibri"/>
              </a:rPr>
              <a:t>Simulation metrics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0" y="2011680"/>
            <a:ext cx="448056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C2C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52360" y="2057400"/>
            <a:ext cx="27432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Survival 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40" y="2057400"/>
            <a:ext cx="15544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99.7 %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0" y="2651760"/>
            <a:ext cx="448056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C2C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52360" y="2697480"/>
            <a:ext cx="27432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Fall 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49840" y="2697480"/>
            <a:ext cx="15544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0.33 %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0" y="3291840"/>
            <a:ext cx="4480560" cy="585216"/>
          </a:xfrm>
          <a:prstGeom prst="rect">
            <a:avLst/>
          </a:prstGeom>
          <a:solidFill>
            <a:srgbClr val="1A1A1A"/>
          </a:solidFill>
          <a:ln w="9525">
            <a:solidFill>
              <a:srgbClr val="C2C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52360" y="3337560"/>
            <a:ext cx="27432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Velocity tracking error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49840" y="3337560"/>
            <a:ext cx="15544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0.22 m/s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0" y="3931920"/>
            <a:ext cx="448056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C2C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52360" y="3977639"/>
            <a:ext cx="27432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Angular tracking error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49840" y="3977639"/>
            <a:ext cx="15544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0.15 rad/s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0" y="4572000"/>
            <a:ext cx="448056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C2C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52360" y="4617720"/>
            <a:ext cx="27432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Final mean return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49840" y="4617720"/>
            <a:ext cx="15544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~31.2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548640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6B7682"/>
                </a:solidFill>
                <a:latin typeface="Calibri"/>
              </a:rPr>
              <a:t>H1 confirmed: in simulation both configurations are near-perfect. The gap appears only on hardware.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437376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682"/>
                </a:solidFill>
                <a:latin typeface="Calibri"/>
              </a:rPr>
              <a:t>Go2 RL Locomotion and Sim-to-Real  |  Richard (8525970)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64240" y="64373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6B7682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wav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6576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B3A4A"/>
                </a:solidFill>
                <a:latin typeface="Calibri"/>
              </a:rPr>
              <a:t>5 | RESULTS AND CONGRUENCE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1A1A1A"/>
                </a:solidFill>
                <a:latin typeface="Calibri"/>
              </a:rPr>
              <a:t>The sim-to-real gap: failures and fixes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2103120" cy="3200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691640"/>
            <a:ext cx="11064240" cy="4572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76479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Failure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764792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Root cause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1764792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Fix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148840"/>
            <a:ext cx="1106424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C2C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194560"/>
            <a:ext cx="30175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2B3A4A"/>
                </a:solidFill>
                <a:latin typeface="Calibri"/>
              </a:rPr>
              <a:t>Foot dragging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194560"/>
            <a:ext cx="3749039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6B7682"/>
                </a:solidFill>
                <a:latin typeface="Calibri"/>
              </a:rPr>
              <a:t>air-time reward too 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2194560"/>
            <a:ext cx="39319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x40 air-time and feet-slide penalty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779776"/>
            <a:ext cx="11064240" cy="585216"/>
          </a:xfrm>
          <a:prstGeom prst="rect">
            <a:avLst/>
          </a:prstGeom>
          <a:solidFill>
            <a:srgbClr val="F5F7F9"/>
          </a:solidFill>
          <a:ln w="7620">
            <a:solidFill>
              <a:srgbClr val="C2C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2825496"/>
            <a:ext cx="30175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2B3A4A"/>
                </a:solidFill>
                <a:latin typeface="Calibri"/>
              </a:rPr>
              <a:t>Collapsing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2825496"/>
            <a:ext cx="3749039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6B7682"/>
                </a:solidFill>
                <a:latin typeface="Calibri"/>
              </a:rPr>
              <a:t>orientation penalty too harsh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2825496"/>
            <a:ext cx="39319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rebalance so tracking dominates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410712"/>
            <a:ext cx="1106424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C2C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3456432"/>
            <a:ext cx="30175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2B3A4A"/>
                </a:solidFill>
                <a:latin typeface="Calibri"/>
              </a:rPr>
              <a:t>Motor chatter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3456432"/>
            <a:ext cx="3749039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6B7682"/>
                </a:solidFill>
                <a:latin typeface="Calibri"/>
              </a:rPr>
              <a:t>actions change too fast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3456432"/>
            <a:ext cx="39319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x5 action-rate and accel. penalties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4041648"/>
            <a:ext cx="11064240" cy="585216"/>
          </a:xfrm>
          <a:prstGeom prst="rect">
            <a:avLst/>
          </a:prstGeom>
          <a:solidFill>
            <a:srgbClr val="ECF1EC"/>
          </a:solidFill>
          <a:ln w="7620">
            <a:solidFill>
              <a:srgbClr val="C2C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4087368"/>
            <a:ext cx="30175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1E5E2E"/>
                </a:solidFill>
                <a:latin typeface="Calibri"/>
              </a:rPr>
              <a:t>Sideways drift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4087368"/>
            <a:ext cx="3749039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6B7682"/>
                </a:solidFill>
                <a:latin typeface="Calibri"/>
              </a:rPr>
              <a:t>actor used base velocity it cannot measure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4087368"/>
            <a:ext cx="39319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asymmetric actor-critic (vel to critic only)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672583"/>
            <a:ext cx="1106424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C2C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4718303"/>
            <a:ext cx="30175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2B3A4A"/>
                </a:solidFill>
                <a:latin typeface="Calibri"/>
              </a:rPr>
              <a:t>Gain sensitivity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39" y="4718303"/>
            <a:ext cx="3749039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6B7682"/>
                </a:solidFill>
                <a:latin typeface="Calibri"/>
              </a:rPr>
              <a:t>real latency / gains / stiction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4718303"/>
            <a:ext cx="39319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DelayedPDActuator and +/-20% gains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5303520"/>
            <a:ext cx="11064240" cy="585216"/>
          </a:xfrm>
          <a:prstGeom prst="rect">
            <a:avLst/>
          </a:prstGeom>
          <a:solidFill>
            <a:srgbClr val="F5F7F9"/>
          </a:solidFill>
          <a:ln w="7620">
            <a:solidFill>
              <a:srgbClr val="C2C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" y="5349240"/>
            <a:ext cx="30175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2B3A4A"/>
                </a:solidFill>
                <a:latin typeface="Calibri"/>
              </a:rPr>
              <a:t>Twisted motion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49039" y="5349240"/>
            <a:ext cx="3749039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6B7682"/>
                </a:solidFill>
                <a:latin typeface="Calibri"/>
              </a:rPr>
              <a:t>sim vs SDK joint order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5349240"/>
            <a:ext cx="39319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alibri"/>
              </a:rPr>
              <a:t>verified joint remap (Adapter pattern)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59893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2B3A4A"/>
                </a:solidFill>
                <a:latin typeface="Calibri"/>
              </a:rPr>
              <a:t>The asymmetric actor-critic was the single largest improvement to real-world performance.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37376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682"/>
                </a:solidFill>
                <a:latin typeface="Calibri"/>
              </a:rPr>
              <a:t>Go2 RL Locomotion and Sim-to-Real  |  Richard (8525970)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64240" y="64373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6B7682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wav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6576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B3A4A"/>
                </a:solidFill>
                <a:latin typeface="Calibri"/>
              </a:rPr>
              <a:t>5 | RESULTS AND CONGRUENCE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1A1A1A"/>
                </a:solidFill>
                <a:latin typeface="Calibri"/>
              </a:rPr>
              <a:t>Real-robot deployment: zero-shot on the Go2 EDU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2103120" cy="3200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eal_deploy_splitscree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737360"/>
            <a:ext cx="6766560" cy="380619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5074920"/>
            <a:ext cx="6766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B7682"/>
                </a:solidFill>
                <a:latin typeface="Calibri"/>
              </a:rPr>
              <a:t>Left: Isaac Sim validation.  Right: the real Go2 walking under joystick command.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1828800"/>
            <a:ext cx="42062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1" i="0">
                <a:solidFill>
                  <a:srgbClr val="2B3A4A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Same network that finished training; no fine-tuning.</a:t>
            </a:r>
          </a:p>
          <a:p>
            <a:pPr algn="l">
              <a:spcAft>
                <a:spcPts val="1200"/>
              </a:spcAft>
            </a:pPr>
            <a:r>
              <a:rPr sz="1400" b="1" i="0">
                <a:solidFill>
                  <a:srgbClr val="2B3A4A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ONNX inference at 50 Hz.</a:t>
            </a:r>
          </a:p>
          <a:p>
            <a:pPr algn="l">
              <a:spcAft>
                <a:spcPts val="1200"/>
              </a:spcAft>
            </a:pPr>
            <a:r>
              <a:rPr sz="1400" b="1" i="0">
                <a:solidFill>
                  <a:srgbClr val="2B3A4A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Run from a laptop over Ethernet and from the onboard Jetson Orin NX.</a:t>
            </a:r>
          </a:p>
          <a:p>
            <a:pPr algn="l">
              <a:spcAft>
                <a:spcPts val="1200"/>
              </a:spcAft>
            </a:pPr>
            <a:r>
              <a:rPr sz="1400" b="1" i="0">
                <a:solidFill>
                  <a:srgbClr val="2B3A4A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The Jetson allows fully untethered operation.</a:t>
            </a:r>
          </a:p>
          <a:p>
            <a:pPr algn="l">
              <a:spcAft>
                <a:spcPts val="1200"/>
              </a:spcAft>
            </a:pPr>
            <a:r>
              <a:rPr sz="1400" b="1" i="0">
                <a:solidFill>
                  <a:srgbClr val="2B3A4A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Walks straight (asymmetric actor-critic); holds station on neutral command.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37376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682"/>
                </a:solidFill>
                <a:latin typeface="Calibri"/>
              </a:rPr>
              <a:t>Go2 RL Locomotion and Sim-to-Real  |  Richard (8525970)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373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6B7682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wav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6576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B3A4A"/>
                </a:solidFill>
                <a:latin typeface="Calibri"/>
              </a:rPr>
              <a:t>5 | CONGRUENCE OF RESULTS AND 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1A1A1A"/>
                </a:solidFill>
                <a:latin typeface="Calibri"/>
              </a:rPr>
              <a:t>What the evidence supports, honestly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2103120" cy="3200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737360"/>
            <a:ext cx="110642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550" b="1" i="0">
                <a:solidFill>
                  <a:srgbClr val="2B3A4A"/>
                </a:solidFill>
                <a:latin typeface="Calibri"/>
              </a:rPr>
              <a:t>•  </a:t>
            </a:r>
            <a:r>
              <a:rPr sz="1550" b="0" i="0">
                <a:solidFill>
                  <a:srgbClr val="1A1A1A"/>
                </a:solidFill>
                <a:latin typeface="Calibri"/>
              </a:rPr>
              <a:t>Zero-shot flat walking on the real Go2: supported (demonstration; the specific failure modes were removed).</a:t>
            </a:r>
          </a:p>
          <a:p>
            <a:pPr algn="l">
              <a:spcAft>
                <a:spcPts val="900"/>
              </a:spcAft>
            </a:pPr>
            <a:r>
              <a:rPr sz="1550" b="1" i="0">
                <a:solidFill>
                  <a:srgbClr val="2B3A4A"/>
                </a:solidFill>
                <a:latin typeface="Calibri"/>
              </a:rPr>
              <a:t>•  </a:t>
            </a:r>
            <a:r>
              <a:rPr sz="1550" b="0" i="0">
                <a:solidFill>
                  <a:srgbClr val="1A1A1A"/>
                </a:solidFill>
                <a:latin typeface="Calibri"/>
              </a:rPr>
              <a:t>Asymmetric actor-critic removes drift: supported by the V2 vs V3 comparison (H2).</a:t>
            </a:r>
          </a:p>
          <a:p>
            <a:pPr algn="l">
              <a:spcAft>
                <a:spcPts val="900"/>
              </a:spcAft>
            </a:pPr>
            <a:r>
              <a:rPr sz="1550" b="1" i="0">
                <a:solidFill>
                  <a:srgbClr val="2B3A4A"/>
                </a:solidFill>
                <a:latin typeface="Calibri"/>
              </a:rPr>
              <a:t>•  </a:t>
            </a:r>
            <a:r>
              <a:rPr sz="1550" b="0" i="0">
                <a:solidFill>
                  <a:srgbClr val="1A1A1A"/>
                </a:solidFill>
                <a:latin typeface="Calibri"/>
              </a:rPr>
              <a:t>Domain randomization bridges the gap: supported by robustness across the training distribution.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840480"/>
            <a:ext cx="112014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2C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959352"/>
            <a:ext cx="10789920" cy="1965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 i="0">
                <a:solidFill>
                  <a:srgbClr val="2B3A4A"/>
                </a:solidFill>
                <a:latin typeface="Calibri"/>
              </a:rPr>
              <a:t>Honest scope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2B3A4A"/>
                </a:solidFill>
                <a:latin typeface="Calibri"/>
              </a:rPr>
              <a:t>Simulation metrics are quantitative; the hardware comparison is qualitative (a logged real-robot benchmark is future work).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2B3A4A"/>
                </a:solidFill>
                <a:latin typeface="Calibri"/>
              </a:rPr>
              <a:t>The system realises the reactive behaviour and its fixed-priority coordinator, not a deliberative Reasoning/Plan layer.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2B3A4A"/>
                </a:solidFill>
                <a:latin typeface="Calibri"/>
              </a:rPr>
              <a:t>Rough terrain is validated in simulation only. Next: add a planner (hybrid architecture), a depth sensor, and a learned velocity estimator.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37376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682"/>
                </a:solidFill>
                <a:latin typeface="Calibri"/>
              </a:rPr>
              <a:t>Go2 RL Locomotion and Sim-to-Real  |  Richard (8525970)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373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6B7682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wav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137160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 i="0">
                <a:solidFill>
                  <a:srgbClr val="1A1A1A"/>
                </a:solidFill>
                <a:latin typeface="Calibri"/>
              </a:rPr>
              <a:t>Thank you</a:t>
            </a:r>
          </a:p>
          <a:p>
            <a:pPr algn="l">
              <a:spcAft>
                <a:spcPts val="800"/>
              </a:spcAft>
            </a:pPr>
            <a:r>
              <a:rPr sz="1700" b="0" i="1">
                <a:solidFill>
                  <a:srgbClr val="2B3A4A"/>
                </a:solidFill>
                <a:latin typeface="Calibri"/>
              </a:rPr>
              <a:t>Go2 Reinforcement Learning Locomotion and Sim-to-Real Transfer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2743200"/>
            <a:ext cx="2743200" cy="4572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3108960"/>
            <a:ext cx="112014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2C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24612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2B3A4A"/>
                </a:solidFill>
                <a:latin typeface="Calibri"/>
              </a:rPr>
              <a:t>Acknowledgments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2B3A4A"/>
                </a:solidFill>
                <a:latin typeface="Calibri"/>
              </a:rPr>
              <a:t>Sincere thanks to Prof. Fulvio Mastrogiovanni and Gianluca Galvagni for the Cognitive Architectures for Robotics course and for their guidance and support throughout this project.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57200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A1A1A"/>
                </a:solidFill>
                <a:latin typeface="Calibri"/>
              </a:rPr>
              <a:t>Demonstration video (Isaac Lab training to real deployment):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B3A4A"/>
                </a:solidFill>
                <a:latin typeface="Calibri"/>
              </a:rPr>
              <a:t>https://drive.google.com/file/d/1e1jpoKKcbISyVp17HyGn1CQgQ9hJk3pM/view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585216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</a:rPr>
              <a:t>Richard Albert King Mechoda  |  ID 8525970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37376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682"/>
                </a:solidFill>
                <a:latin typeface="Calibri"/>
              </a:rPr>
              <a:t>Go2 RL Locomotion and Sim-to-Real  |  Richard (8525970)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373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6B7682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